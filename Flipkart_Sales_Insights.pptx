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0046334-289a-64eb-bb02-542cf5997fae}">
          <p14:sldIdLst>
            <p14:sldId id="256"/>
          </p14:sldIdLst>
        </p14:section>
        <p14:section name="Problem" id="{dcf8fc49-eac8-c123-1ff3-1de3a6876dd7}">
          <p14:sldIdLst>
            <p14:sldId id="257"/>
            <p14:sldId id="258"/>
          </p14:sldIdLst>
        </p14:section>
        <p14:section name="Insights" id="{1445ff71-8328-da20-8346-2f8791bbc66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ctions" id="{f8d31edc-d23f-9004-0408-3d9efb9b1848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(Rs. lakh)</c:v>
                </c:pt>
              </c:strCache>
            </c:strRef>
          </c:tx>
          <c:spPr>
            <a:solidFill>
              <a:srgbClr val="2874F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C2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FC2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18.4</c:v>
                </c:pt>
                <c:pt idx="1">
                  <c:v>24</c:v>
                </c:pt>
                <c:pt idx="2">
                  <c:v>24.8</c:v>
                </c:pt>
                <c:pt idx="3">
                  <c:v>24.1</c:v>
                </c:pt>
                <c:pt idx="4">
                  <c:v>24.3</c:v>
                </c:pt>
                <c:pt idx="5">
                  <c:v>23.6</c:v>
                </c:pt>
                <c:pt idx="6">
                  <c:v>27.8</c:v>
                </c:pt>
                <c:pt idx="7">
                  <c:v>37.5</c:v>
                </c:pt>
                <c:pt idx="8">
                  <c:v>30</c:v>
                </c:pt>
                <c:pt idx="9">
                  <c:v>59.8</c:v>
                </c:pt>
                <c:pt idx="10">
                  <c:v>61.2</c:v>
                </c:pt>
                <c:pt idx="11">
                  <c:v>31.9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8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net sales (%)</c:v>
                </c:pt>
              </c:strCache>
            </c:strRef>
          </c:tx>
          <c:spPr>
            <a:solidFill>
              <a:srgbClr val="2874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Home &amp; Kitchen</c:v>
                  </c:pt>
                  <c:pt idx="2">
                    <c:v>Fashion</c:v>
                  </c:pt>
                  <c:pt idx="3">
                    <c:v>Sports &amp; Fitness</c:v>
                  </c:pt>
                  <c:pt idx="4">
                    <c:v>Beauty &amp; Personal Care</c:v>
                  </c:pt>
                  <c:pt idx="5">
                    <c:v>Books &amp; Stationery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83.6</c:v>
                </c:pt>
                <c:pt idx="1">
                  <c:v>7.2</c:v>
                </c:pt>
                <c:pt idx="2">
                  <c:v>5.8</c:v>
                </c:pt>
                <c:pt idx="3">
                  <c:v>2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8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net sales (%)</c:v>
                </c:pt>
              </c:strCache>
            </c:strRef>
          </c:tx>
          <c:spPr>
            <a:solidFill>
              <a:srgbClr val="2874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Maharashtra</c:v>
                  </c:pt>
                  <c:pt idx="1">
                    <c:v>Karnataka</c:v>
                  </c:pt>
                  <c:pt idx="2">
                    <c:v>Tamil Nadu</c:v>
                  </c:pt>
                  <c:pt idx="3">
                    <c:v>Gujarat</c:v>
                  </c:pt>
                  <c:pt idx="4">
                    <c:v>Delhi</c:v>
                  </c:pt>
                  <c:pt idx="5">
                    <c:v>West Bengal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23.8</c:v>
                </c:pt>
                <c:pt idx="1">
                  <c:v>13.2</c:v>
                </c:pt>
                <c:pt idx="2">
                  <c:v>8.9</c:v>
                </c:pt>
                <c:pt idx="3">
                  <c:v>8.3</c:v>
                </c:pt>
                <c:pt idx="4">
                  <c:v>8.2</c:v>
                </c:pt>
                <c:pt idx="5">
                  <c:v>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8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F0"/>
              </a:solidFill>
              <a:effectLst/>
            </c:spPr>
          </c:dPt>
          <c:dPt>
            <c:idx val="1"/>
            <c:bubble3D val="0"/>
            <c:spPr>
              <a:solidFill>
                <a:srgbClr val="FFC200"/>
              </a:solidFill>
              <a:effectLst/>
            </c:spPr>
          </c:dPt>
          <c:dPt>
            <c:idx val="2"/>
            <c:bubble3D val="0"/>
            <c:spPr>
              <a:solidFill>
                <a:srgbClr val="8A4D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Mobile App</c:v>
                </c:pt>
                <c:pt idx="1">
                  <c:v>Website</c:v>
                </c:pt>
                <c:pt idx="2">
                  <c:v>Mobile Web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69.6</c:v>
                </c:pt>
                <c:pt idx="1">
                  <c:v>20.7</c:v>
                </c:pt>
                <c:pt idx="2">
                  <c:v>9.7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820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net sales (%)</c:v>
                </c:pt>
              </c:strCache>
            </c:strRef>
          </c:tx>
          <c:spPr>
            <a:solidFill>
              <a:srgbClr val="9DBCF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74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19.6</c:v>
                </c:pt>
                <c:pt idx="1">
                  <c:v>40.8</c:v>
                </c:pt>
                <c:pt idx="2">
                  <c:v>28.7</c:v>
                </c:pt>
                <c:pt idx="3">
                  <c:v>10.9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8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(%)</c:v>
                </c:pt>
              </c:strCache>
            </c:strRef>
          </c:tx>
          <c:spPr>
            <a:solidFill>
              <a:srgbClr val="FF5D5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D5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CF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Sports &amp; Fitness</c:v>
                  </c:pt>
                  <c:pt idx="1">
                    <c:v>Beauty &amp; Personal Care</c:v>
                  </c:pt>
                  <c:pt idx="2">
                    <c:v>Books &amp; Stationery</c:v>
                  </c:pt>
                  <c:pt idx="3">
                    <c:v>Electronics</c:v>
                  </c:pt>
                  <c:pt idx="4">
                    <c:v>Fashion</c:v>
                  </c:pt>
                  <c:pt idx="5">
                    <c:v>Home &amp; Kitchen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11.2</c:v>
                </c:pt>
                <c:pt idx="1">
                  <c:v>9</c:v>
                </c:pt>
                <c:pt idx="2">
                  <c:v>8.7</c:v>
                </c:pt>
                <c:pt idx="3">
                  <c:v>8.2</c:v>
                </c:pt>
                <c:pt idx="4">
                  <c:v>8</c:v>
                </c:pt>
                <c:pt idx="5">
                  <c:v>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8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four-page Power BI dashboard built on a practice Flipkart-style dataset. Mention it is sample data, not real company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four questions the dashboard answers. These become the four pages: Overview, Products, Customers,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model: customers and products are dimensions; orders, order items and payments are facts. A date table connects to orders. Net sales exclude returned and cancelled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headline KPIs. Return and cancel rates use all 5,500 orders as the base; the other four use Delivered and Shipped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Yellow bars are the festive months. Using calendar months removes the effect of customers joining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Concentration risk: one category supplies most of the revenue. Growth in Home and Kitchen or Fashion would balance the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70% of net sales come through the mobile app. Maharashtra, Karnataka and Tamil Nadu lead the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25-34 group alone is about 41% of sales. Plus members are about a fifth of sales, so most revenue comes from non-members. With only 1.5 orders per customer, repeat buying is an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and cancel rates use all 5,500 orders as the base. Category return rates use order lines. Every category is at or above 7.5%, so this is a broad issue with Sports and Fitness the worst.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links to one insight. Prioritise the festive-season preparation and category diversification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4F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Flipkart Sales Analysis | Sample dataset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A4F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Flipkart Sales Analysis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problems, insights and recommendations from Power BI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120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Reena Tamang | Data Analyst Portfolio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dataset: Jan 2024 to Dec 2025</a:t>
            </a:r>
            <a:endParaRPr lang="en-US" sz="1400" dirty="0"/>
          </a:p>
        </p:txBody>
      </p:sp>
      <p:sp>
        <p:nvSpPr>
          <p:cNvPr id="6" name="stat0"/>
          <p:cNvSpPr/>
          <p:nvPr/>
        </p:nvSpPr>
        <p:spPr>
          <a:xfrm>
            <a:off x="7955280" y="1463040"/>
            <a:ext cx="365760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13816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3.87 Cr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600" dirty="0"/>
          </a:p>
        </p:txBody>
      </p:sp>
      <p:sp>
        <p:nvSpPr>
          <p:cNvPr id="9" name="stat1"/>
          <p:cNvSpPr/>
          <p:nvPr/>
        </p:nvSpPr>
        <p:spPr>
          <a:xfrm>
            <a:off x="7955280" y="3017520"/>
            <a:ext cx="365760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3108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4,673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orders</a:t>
            </a:r>
            <a:endParaRPr lang="en-US" sz="1600" dirty="0"/>
          </a:p>
        </p:txBody>
      </p:sp>
      <p:sp>
        <p:nvSpPr>
          <p:cNvPr id="12" name="stat2"/>
          <p:cNvSpPr/>
          <p:nvPr/>
        </p:nvSpPr>
        <p:spPr>
          <a:xfrm>
            <a:off x="7955280" y="4572000"/>
            <a:ext cx="365760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38160" y="4663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returned or cancelled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has sales data but no single view of what drives revenue and where it leaks.</a:t>
            </a:r>
            <a:endParaRPr lang="en-US" sz="1800" dirty="0"/>
          </a:p>
        </p:txBody>
      </p:sp>
      <p:sp>
        <p:nvSpPr>
          <p:cNvPr id="4" name="problem0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conbg0"/>
          <p:cNvSpPr/>
          <p:nvPr/>
        </p:nvSpPr>
        <p:spPr>
          <a:xfrm>
            <a:off x="868680" y="24231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ow much are we selling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are we selling?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steady, seasonal or declining, and which months matter most?</a:t>
            </a:r>
            <a:endParaRPr lang="en-US" sz="1600" dirty="0"/>
          </a:p>
        </p:txBody>
      </p:sp>
      <p:sp>
        <p:nvSpPr>
          <p:cNvPr id="9" name="problem1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bg1"/>
          <p:cNvSpPr/>
          <p:nvPr/>
        </p:nvSpPr>
        <p:spPr>
          <a:xfrm>
            <a:off x="6537960" y="24231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What actually sells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51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sells?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brands carry the business, and how risky is that mix?</a:t>
            </a:r>
            <a:endParaRPr lang="en-US" sz="1600" dirty="0"/>
          </a:p>
        </p:txBody>
      </p:sp>
      <p:sp>
        <p:nvSpPr>
          <p:cNvPr id="14" name="problem2"/>
          <p:cNvSpPr/>
          <p:nvPr/>
        </p:nvSpPr>
        <p:spPr>
          <a:xfrm>
            <a:off x="548640" y="406908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conbg2"/>
          <p:cNvSpPr/>
          <p:nvPr/>
        </p:nvSpPr>
        <p:spPr>
          <a:xfrm>
            <a:off x="868680" y="452628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mage 2" descr="Who is buying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54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buying?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4937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customers, regions and channels generate the sales?</a:t>
            </a:r>
            <a:endParaRPr lang="en-US" sz="1600" dirty="0"/>
          </a:p>
        </p:txBody>
      </p:sp>
      <p:sp>
        <p:nvSpPr>
          <p:cNvPr id="19" name="problem3"/>
          <p:cNvSpPr/>
          <p:nvPr/>
        </p:nvSpPr>
        <p:spPr>
          <a:xfrm>
            <a:off x="6217920" y="406908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conbg3"/>
          <p:cNvSpPr/>
          <p:nvPr/>
        </p:nvSpPr>
        <p:spPr>
          <a:xfrm>
            <a:off x="6537960" y="452628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Where do we lose money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754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lose money?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7680960" y="4937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are returned or cancelled, and in which categories?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the analysis</a:t>
            </a:r>
            <a:endParaRPr lang="en-US" sz="3400" dirty="0"/>
          </a:p>
        </p:txBody>
      </p:sp>
      <p:sp>
        <p:nvSpPr>
          <p:cNvPr id="3" name="dstat0"/>
          <p:cNvSpPr/>
          <p:nvPr/>
        </p:nvSpPr>
        <p:spPr>
          <a:xfrm>
            <a:off x="548640" y="14630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tables</a:t>
            </a:r>
            <a:endParaRPr lang="en-US" sz="1600" dirty="0"/>
          </a:p>
        </p:txBody>
      </p:sp>
      <p:sp>
        <p:nvSpPr>
          <p:cNvPr id="6" name="dstat1"/>
          <p:cNvSpPr/>
          <p:nvPr/>
        </p:nvSpPr>
        <p:spPr>
          <a:xfrm>
            <a:off x="3355848" y="14630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38728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600" dirty="0"/>
          </a:p>
        </p:txBody>
      </p:sp>
      <p:sp>
        <p:nvSpPr>
          <p:cNvPr id="9" name="dstat2"/>
          <p:cNvSpPr/>
          <p:nvPr/>
        </p:nvSpPr>
        <p:spPr>
          <a:xfrm>
            <a:off x="6163056" y="14630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45936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2" name="dstat3"/>
          <p:cNvSpPr/>
          <p:nvPr/>
        </p:nvSpPr>
        <p:spPr>
          <a:xfrm>
            <a:off x="8970264" y="14630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53144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53144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 in Power BI</a:t>
            </a:r>
            <a:endParaRPr lang="en-US" sz="2000" dirty="0"/>
          </a:p>
        </p:txBody>
      </p:sp>
      <p:sp>
        <p:nvSpPr>
          <p:cNvPr id="16" name="tab0"/>
          <p:cNvSpPr/>
          <p:nvPr/>
        </p:nvSpPr>
        <p:spPr>
          <a:xfrm>
            <a:off x="548640" y="388620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city, segment, Plus membership</a:t>
            </a:r>
            <a:endParaRPr lang="en-US" sz="1400" dirty="0"/>
          </a:p>
        </p:txBody>
      </p:sp>
      <p:sp>
        <p:nvSpPr>
          <p:cNvPr id="19" name="tab1"/>
          <p:cNvSpPr/>
          <p:nvPr/>
        </p:nvSpPr>
        <p:spPr>
          <a:xfrm>
            <a:off x="2798064" y="388620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935224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935224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brand, price, rating</a:t>
            </a:r>
            <a:endParaRPr lang="en-US" sz="1400" dirty="0"/>
          </a:p>
        </p:txBody>
      </p:sp>
      <p:sp>
        <p:nvSpPr>
          <p:cNvPr id="22" name="tab2"/>
          <p:cNvSpPr/>
          <p:nvPr/>
        </p:nvSpPr>
        <p:spPr>
          <a:xfrm>
            <a:off x="5047488" y="388620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84648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184648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status, channel, state</a:t>
            </a:r>
            <a:endParaRPr lang="en-US" sz="1400" dirty="0"/>
          </a:p>
        </p:txBody>
      </p:sp>
      <p:sp>
        <p:nvSpPr>
          <p:cNvPr id="25" name="tab3"/>
          <p:cNvSpPr/>
          <p:nvPr/>
        </p:nvSpPr>
        <p:spPr>
          <a:xfrm>
            <a:off x="7296912" y="388620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34072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price, discount, total</a:t>
            </a:r>
            <a:endParaRPr lang="en-US" sz="1400" dirty="0"/>
          </a:p>
        </p:txBody>
      </p:sp>
      <p:sp>
        <p:nvSpPr>
          <p:cNvPr id="28" name="tab4"/>
          <p:cNvSpPr/>
          <p:nvPr/>
        </p:nvSpPr>
        <p:spPr>
          <a:xfrm>
            <a:off x="9546336" y="3886200"/>
            <a:ext cx="21031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683496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683496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status, cashback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count Delivered and Shipped orders only. Period: Jan 2024 to Dec 2025.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snapshot</a:t>
            </a:r>
            <a:endParaRPr lang="en-US" sz="3400" dirty="0"/>
          </a:p>
        </p:txBody>
      </p:sp>
      <p:sp>
        <p:nvSpPr>
          <p:cNvPr id="3" name="kpi0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3.87 Cr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800" dirty="0"/>
          </a:p>
        </p:txBody>
      </p:sp>
      <p:sp>
        <p:nvSpPr>
          <p:cNvPr id="6" name="kpi1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4,673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800" dirty="0"/>
          </a:p>
        </p:txBody>
      </p:sp>
      <p:sp>
        <p:nvSpPr>
          <p:cNvPr id="9" name="kpi2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8,291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800" dirty="0"/>
          </a:p>
        </p:txBody>
      </p:sp>
      <p:sp>
        <p:nvSpPr>
          <p:cNvPr id="12" name="kpi3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6,955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800" dirty="0"/>
          </a:p>
        </p:txBody>
      </p:sp>
      <p:sp>
        <p:nvSpPr>
          <p:cNvPr id="15" name="kpi4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7200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800" dirty="0"/>
          </a:p>
        </p:txBody>
      </p:sp>
      <p:sp>
        <p:nvSpPr>
          <p:cNvPr id="18" name="kpi5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peak in October and November</a:t>
            </a:r>
            <a:endParaRPr lang="en-US" sz="3400" dirty="0"/>
          </a:p>
        </p:txBody>
      </p:sp>
      <p:sp>
        <p:nvSpPr>
          <p:cNvPr id="3" name="chartcard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calendar month, 2024 and 2025 combined (Rs. lakh)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1"/>
          <p:cNvSpPr/>
          <p:nvPr/>
        </p:nvSpPr>
        <p:spPr>
          <a:xfrm>
            <a:off x="8321040" y="1371600"/>
            <a:ext cx="331927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49640" y="1508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31.2%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net sales come from October and November, the festive season</a:t>
            </a:r>
            <a:endParaRPr lang="en-US" sz="1600" dirty="0"/>
          </a:p>
        </p:txBody>
      </p:sp>
      <p:sp>
        <p:nvSpPr>
          <p:cNvPr id="9" name="callout2"/>
          <p:cNvSpPr/>
          <p:nvPr/>
        </p:nvSpPr>
        <p:spPr>
          <a:xfrm>
            <a:off x="8321040" y="3840480"/>
            <a:ext cx="331927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54964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3891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months carry nearly a third of the year, so stock, staffing and offers must be ready before October.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drives 84% of revenue</a:t>
            </a:r>
            <a:endParaRPr lang="en-US" sz="3400" dirty="0"/>
          </a:p>
        </p:txBody>
      </p:sp>
      <p:sp>
        <p:nvSpPr>
          <p:cNvPr id="3" name="chartcard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net sales by category (%)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1"/>
          <p:cNvSpPr/>
          <p:nvPr/>
        </p:nvSpPr>
        <p:spPr>
          <a:xfrm>
            <a:off x="8321040" y="1371600"/>
            <a:ext cx="331927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496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and phones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0116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tags make Electronics the revenue engine. Dell, Asus and HP are the top three brands.</a:t>
            </a:r>
            <a:endParaRPr lang="en-US" sz="1600" dirty="0"/>
          </a:p>
        </p:txBody>
      </p:sp>
      <p:sp>
        <p:nvSpPr>
          <p:cNvPr id="9" name="callout2"/>
          <p:cNvSpPr/>
          <p:nvPr/>
        </p:nvSpPr>
        <p:spPr>
          <a:xfrm>
            <a:off x="8321040" y="3840480"/>
            <a:ext cx="331927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54964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3891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other categories share the remaining 16%. A dip in Electronics would hit the whole business.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and top states lead sales</a:t>
            </a:r>
            <a:endParaRPr lang="en-US" sz="3400" dirty="0"/>
          </a:p>
        </p:txBody>
      </p:sp>
      <p:sp>
        <p:nvSpPr>
          <p:cNvPr id="3" name="chartcard"/>
          <p:cNvSpPr/>
          <p:nvPr/>
        </p:nvSpPr>
        <p:spPr>
          <a:xfrm>
            <a:off x="548640" y="1371600"/>
            <a:ext cx="63093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states by net sales (% of total)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artcard2"/>
          <p:cNvSpPr/>
          <p:nvPr/>
        </p:nvSpPr>
        <p:spPr>
          <a:xfrm>
            <a:off x="7086600" y="1371600"/>
            <a:ext cx="4553712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609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order channel (%)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7269480" y="187452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llout2"/>
          <p:cNvSpPr/>
          <p:nvPr/>
        </p:nvSpPr>
        <p:spPr>
          <a:xfrm>
            <a:off x="7086600" y="4663440"/>
            <a:ext cx="455371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315200" y="4754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36% of sales and Cash on Delivery 18%. Maharashtra alone brings 24%.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buyers are aged 25 to 44</a:t>
            </a:r>
            <a:endParaRPr lang="en-US" sz="3400" dirty="0"/>
          </a:p>
        </p:txBody>
      </p:sp>
      <p:sp>
        <p:nvSpPr>
          <p:cNvPr id="3" name="chartcard"/>
          <p:cNvSpPr/>
          <p:nvPr/>
        </p:nvSpPr>
        <p:spPr>
          <a:xfrm>
            <a:off x="548640" y="1371600"/>
            <a:ext cx="640080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age group (% of total)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s0"/>
          <p:cNvSpPr/>
          <p:nvPr/>
        </p:nvSpPr>
        <p:spPr>
          <a:xfrm>
            <a:off x="7269480" y="1371600"/>
            <a:ext cx="4370832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0" y="1508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1508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from ages 25 to 44</a:t>
            </a:r>
            <a:endParaRPr lang="en-US" sz="1600" dirty="0"/>
          </a:p>
        </p:txBody>
      </p:sp>
      <p:sp>
        <p:nvSpPr>
          <p:cNvPr id="9" name="cs1"/>
          <p:cNvSpPr/>
          <p:nvPr/>
        </p:nvSpPr>
        <p:spPr>
          <a:xfrm>
            <a:off x="7269480" y="2999232"/>
            <a:ext cx="4370832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31363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313639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from Plus members</a:t>
            </a:r>
            <a:endParaRPr lang="en-US" sz="1600" dirty="0"/>
          </a:p>
        </p:txBody>
      </p:sp>
      <p:sp>
        <p:nvSpPr>
          <p:cNvPr id="12" name="cs2"/>
          <p:cNvSpPr/>
          <p:nvPr/>
        </p:nvSpPr>
        <p:spPr>
          <a:xfrm>
            <a:off x="7269480" y="4626864"/>
            <a:ext cx="4370832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98080" y="4764024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281160" y="4764024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customer on average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and cancels hit 15% of orders</a:t>
            </a:r>
            <a:endParaRPr lang="en-US" sz="3400" dirty="0"/>
          </a:p>
        </p:txBody>
      </p:sp>
      <p:sp>
        <p:nvSpPr>
          <p:cNvPr id="3" name="chartcard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category (% of order lines)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os0"/>
          <p:cNvSpPr/>
          <p:nvPr/>
        </p:nvSpPr>
        <p:spPr>
          <a:xfrm>
            <a:off x="7543800" y="1371600"/>
            <a:ext cx="4096512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0" y="15087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1508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returned</a:t>
            </a:r>
            <a:endParaRPr lang="en-US" sz="1600" dirty="0"/>
          </a:p>
        </p:txBody>
      </p:sp>
      <p:sp>
        <p:nvSpPr>
          <p:cNvPr id="9" name="os1"/>
          <p:cNvSpPr/>
          <p:nvPr/>
        </p:nvSpPr>
        <p:spPr>
          <a:xfrm>
            <a:off x="7543800" y="2999232"/>
            <a:ext cx="4096512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0" y="31363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313639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cancelled</a:t>
            </a:r>
            <a:endParaRPr lang="en-US" sz="1600" dirty="0"/>
          </a:p>
        </p:txBody>
      </p:sp>
      <p:sp>
        <p:nvSpPr>
          <p:cNvPr id="12" name="os2"/>
          <p:cNvSpPr/>
          <p:nvPr/>
        </p:nvSpPr>
        <p:spPr>
          <a:xfrm>
            <a:off x="7543800" y="4626864"/>
            <a:ext cx="4096512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0" y="4764024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0" y="4764024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in Sports and Fitness, the highest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3" name="rec0"/>
          <p:cNvSpPr/>
          <p:nvPr/>
        </p:nvSpPr>
        <p:spPr>
          <a:xfrm>
            <a:off x="548640" y="1371600"/>
            <a:ext cx="11094415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0"/>
          <p:cNvSpPr/>
          <p:nvPr/>
        </p:nvSpPr>
        <p:spPr>
          <a:xfrm>
            <a:off x="777240" y="15179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4475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festive peak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stock, staffing and offers before October; 31% of sales land in two months.</a:t>
            </a:r>
            <a:endParaRPr lang="en-US" sz="1400" dirty="0"/>
          </a:p>
        </p:txBody>
      </p:sp>
      <p:sp>
        <p:nvSpPr>
          <p:cNvPr id="8" name="rec1"/>
          <p:cNvSpPr/>
          <p:nvPr/>
        </p:nvSpPr>
        <p:spPr>
          <a:xfrm>
            <a:off x="548640" y="2331720"/>
            <a:ext cx="11094415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1"/>
          <p:cNvSpPr/>
          <p:nvPr/>
        </p:nvSpPr>
        <p:spPr>
          <a:xfrm>
            <a:off x="777240" y="247802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78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40487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Electronics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404872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Home and Kitchen and Fashion through targeted offers to cut the 84% dependence.</a:t>
            </a:r>
            <a:endParaRPr lang="en-US" sz="1400" dirty="0"/>
          </a:p>
        </p:txBody>
      </p:sp>
      <p:sp>
        <p:nvSpPr>
          <p:cNvPr id="13" name="rec2"/>
          <p:cNvSpPr/>
          <p:nvPr/>
        </p:nvSpPr>
        <p:spPr>
          <a:xfrm>
            <a:off x="548640" y="3291840"/>
            <a:ext cx="11094415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2"/>
          <p:cNvSpPr/>
          <p:nvPr/>
        </p:nvSpPr>
        <p:spPr>
          <a:xfrm>
            <a:off x="777240" y="34381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36499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Plus and repeat buying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64992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Plus membership and loyalty offers; customers place only 1.5 orders on average.</a:t>
            </a:r>
            <a:endParaRPr lang="en-US" sz="1400" dirty="0"/>
          </a:p>
        </p:txBody>
      </p:sp>
      <p:sp>
        <p:nvSpPr>
          <p:cNvPr id="18" name="rec3"/>
          <p:cNvSpPr/>
          <p:nvPr/>
        </p:nvSpPr>
        <p:spPr>
          <a:xfrm>
            <a:off x="548640" y="4251960"/>
            <a:ext cx="11094415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3"/>
          <p:cNvSpPr/>
          <p:nvPr/>
        </p:nvSpPr>
        <p:spPr>
          <a:xfrm>
            <a:off x="777240" y="439826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3251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returns in weak categories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325112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 quality and listings in Sports and Fitness first (11% returns).</a:t>
            </a:r>
            <a:endParaRPr lang="en-US" sz="1400" dirty="0"/>
          </a:p>
        </p:txBody>
      </p:sp>
      <p:sp>
        <p:nvSpPr>
          <p:cNvPr id="23" name="rec4"/>
          <p:cNvSpPr/>
          <p:nvPr/>
        </p:nvSpPr>
        <p:spPr>
          <a:xfrm>
            <a:off x="548640" y="5212080"/>
            <a:ext cx="11094415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4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28523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app, UPI and prepaid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5285232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mobile app (70% of sales) and nudge buyers from Cash on Delivery to prepaid.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800" dirty="0"/>
          </a:p>
        </p:txBody>
      </p:sp>
      <p:sp>
        <p:nvSpPr>
          <p:cNvPr id="3" name="sumcard0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Oct and Nov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84% of revenue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UPI and top states lead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orders are returned or cancelled</a:t>
            </a:r>
            <a:endParaRPr lang="en-US" sz="1600" dirty="0"/>
          </a:p>
        </p:txBody>
      </p:sp>
      <p:sp>
        <p:nvSpPr>
          <p:cNvPr id="6" name="sumcard1"/>
          <p:cNvSpPr/>
          <p:nvPr/>
        </p:nvSpPr>
        <p:spPr>
          <a:xfrm>
            <a:off x="429768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festive season early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categories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Plus and repeat buyers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high-return categories</a:t>
            </a:r>
            <a:endParaRPr lang="en-US" sz="1600" dirty="0"/>
          </a:p>
        </p:txBody>
      </p:sp>
      <p:sp>
        <p:nvSpPr>
          <p:cNvPr id="9" name="sumcard2"/>
          <p:cNvSpPr/>
          <p:nvPr/>
        </p:nvSpPr>
        <p:spPr>
          <a:xfrm>
            <a:off x="804672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analysis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 and profit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reasons by product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| github.com/reenatamang22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ipkart Insights">
  <a:themeElements>
    <a:clrScheme name="Flipkart Insights">
      <a:dk1>
        <a:srgbClr val="18202E"/>
      </a:dk1>
      <a:lt1>
        <a:srgbClr val="FFFFFF"/>
      </a:lt1>
      <a:dk2>
        <a:srgbClr val="1A4FB5"/>
      </a:dk2>
      <a:lt2>
        <a:srgbClr val="F3F6FB"/>
      </a:lt2>
      <a:accent1>
        <a:srgbClr val="2874F0"/>
      </a:accent1>
      <a:accent2>
        <a:srgbClr val="FFC200"/>
      </a:accent2>
      <a:accent3>
        <a:srgbClr val="12B886"/>
      </a:accent3>
      <a:accent4>
        <a:srgbClr val="FF5D5D"/>
      </a:accent4>
      <a:accent5>
        <a:srgbClr val="8A4DFF"/>
      </a:accent5>
      <a:accent6>
        <a:srgbClr val="FF8A3D"/>
      </a:accent6>
      <a:hlink>
        <a:srgbClr val="2874F0"/>
      </a:hlink>
      <a:folHlink>
        <a:srgbClr val="8A4DFF"/>
      </a:folHlink>
    </a:clrScheme>
    <a:fontScheme name="Flipkart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Analysis: Insights and Recommendations</dc:title>
  <dc:subject>PptxGenJS Presentation</dc:subject>
  <dc:creator>Reena Tamang</dc:creator>
  <cp:lastModifiedBy>Reena Tamang</cp:lastModifiedBy>
  <cp:revision>1</cp:revision>
  <dcterms:created xsi:type="dcterms:W3CDTF">2026-10-21T04:11:50Z</dcterms:created>
  <dcterms:modified xsi:type="dcterms:W3CDTF">2026-10-21T04:11:50Z</dcterms:modified>
</cp:coreProperties>
</file>